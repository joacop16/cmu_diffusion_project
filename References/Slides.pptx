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Open Sans ExtraBold"/>
      <p:bold r:id="rId34"/>
      <p:boldItalic r:id="rId35"/>
    </p:embeddedFont>
    <p:embeddedFont>
      <p:font typeface="Crimson Text"/>
      <p:regular r:id="rId36"/>
      <p:bold r:id="rId37"/>
      <p:italic r:id="rId38"/>
      <p:boldItalic r:id="rId39"/>
    </p:embeddedFont>
    <p:embeddedFont>
      <p:font typeface="Open Sans Light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hwCwK4faYb8vbElOTo9DeSCEt5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regular.fntdata"/><Relationship Id="rId20" Type="http://schemas.openxmlformats.org/officeDocument/2006/relationships/slide" Target="slides/slide15.xml"/><Relationship Id="rId42" Type="http://schemas.openxmlformats.org/officeDocument/2006/relationships/font" Target="fonts/OpenSansLight-italic.fntdata"/><Relationship Id="rId41" Type="http://schemas.openxmlformats.org/officeDocument/2006/relationships/font" Target="fonts/OpenSansLight-bold.fntdata"/><Relationship Id="rId22" Type="http://schemas.openxmlformats.org/officeDocument/2006/relationships/slide" Target="slides/slide17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6.xml"/><Relationship Id="rId43" Type="http://schemas.openxmlformats.org/officeDocument/2006/relationships/font" Target="fonts/OpenSansLight-boldItalic.fntdata"/><Relationship Id="rId24" Type="http://schemas.openxmlformats.org/officeDocument/2006/relationships/slide" Target="slides/slide19.xml"/><Relationship Id="rId46" Type="http://schemas.openxmlformats.org/officeDocument/2006/relationships/font" Target="fonts/OpenSans-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OpenSans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ExtraBold-bold.fntdata"/><Relationship Id="rId15" Type="http://schemas.openxmlformats.org/officeDocument/2006/relationships/slide" Target="slides/slide10.xml"/><Relationship Id="rId37" Type="http://schemas.openxmlformats.org/officeDocument/2006/relationships/font" Target="fonts/CrimsonText-bold.fntdata"/><Relationship Id="rId14" Type="http://schemas.openxmlformats.org/officeDocument/2006/relationships/slide" Target="slides/slide9.xml"/><Relationship Id="rId36" Type="http://schemas.openxmlformats.org/officeDocument/2006/relationships/font" Target="fonts/CrimsonText-regular.fntdata"/><Relationship Id="rId17" Type="http://schemas.openxmlformats.org/officeDocument/2006/relationships/slide" Target="slides/slide12.xml"/><Relationship Id="rId39" Type="http://schemas.openxmlformats.org/officeDocument/2006/relationships/font" Target="fonts/CrimsonText-boldItalic.fntdata"/><Relationship Id="rId16" Type="http://schemas.openxmlformats.org/officeDocument/2006/relationships/slide" Target="slides/slide11.xml"/><Relationship Id="rId38" Type="http://schemas.openxmlformats.org/officeDocument/2006/relationships/font" Target="fonts/CrimsonTex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57" name="Google Shape;457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3" name="Google Shape;47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0"/>
          <p:cNvSpPr/>
          <p:nvPr/>
        </p:nvSpPr>
        <p:spPr>
          <a:xfrm>
            <a:off x="4972833" y="0"/>
            <a:ext cx="7219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16;p30"/>
          <p:cNvCxnSpPr/>
          <p:nvPr/>
        </p:nvCxnSpPr>
        <p:spPr>
          <a:xfrm>
            <a:off x="5776231" y="3745282"/>
            <a:ext cx="56871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" name="Google Shape;17;p30"/>
          <p:cNvSpPr txBox="1"/>
          <p:nvPr>
            <p:ph idx="1" type="body"/>
          </p:nvPr>
        </p:nvSpPr>
        <p:spPr>
          <a:xfrm>
            <a:off x="5732463" y="2284413"/>
            <a:ext cx="5730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2" type="body"/>
          </p:nvPr>
        </p:nvSpPr>
        <p:spPr>
          <a:xfrm>
            <a:off x="5788025" y="4026802"/>
            <a:ext cx="3270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b="1" sz="1600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543" y="2556221"/>
            <a:ext cx="2078103" cy="131967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0"/>
          <p:cNvSpPr txBox="1"/>
          <p:nvPr>
            <p:ph idx="3" type="body"/>
          </p:nvPr>
        </p:nvSpPr>
        <p:spPr>
          <a:xfrm>
            <a:off x="5781891" y="4449077"/>
            <a:ext cx="5926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4"/>
          <p:cNvSpPr txBox="1"/>
          <p:nvPr>
            <p:ph idx="1" type="body"/>
          </p:nvPr>
        </p:nvSpPr>
        <p:spPr>
          <a:xfrm>
            <a:off x="3154363" y="3044825"/>
            <a:ext cx="58833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indent="-508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2pPr>
            <a:lvl3pPr indent="-508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3pPr>
            <a:lvl4pPr indent="-508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4pPr>
            <a:lvl5pPr indent="-508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5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5"/>
          <p:cNvSpPr/>
          <p:nvPr>
            <p:ph idx="2" type="chart"/>
          </p:nvPr>
        </p:nvSpPr>
        <p:spPr>
          <a:xfrm>
            <a:off x="2308225" y="2682875"/>
            <a:ext cx="71025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cxnSp>
        <p:nvCxnSpPr>
          <p:cNvPr id="31" name="Google Shape;31;p35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2" name="Google Shape;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639" y="2683253"/>
            <a:ext cx="4782600" cy="31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2384425" y="823913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3" type="body"/>
          </p:nvPr>
        </p:nvSpPr>
        <p:spPr>
          <a:xfrm>
            <a:off x="2308225" y="2179638"/>
            <a:ext cx="6676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b="1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7"/>
          <p:cNvSpPr/>
          <p:nvPr/>
        </p:nvSpPr>
        <p:spPr>
          <a:xfrm>
            <a:off x="588723" y="588724"/>
            <a:ext cx="11014500" cy="568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7"/>
          <p:cNvCxnSpPr/>
          <p:nvPr/>
        </p:nvCxnSpPr>
        <p:spPr>
          <a:xfrm>
            <a:off x="1757819" y="2035793"/>
            <a:ext cx="8538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" name="Google Shape;43;p37"/>
          <p:cNvSpPr txBox="1"/>
          <p:nvPr>
            <p:ph idx="1" type="body"/>
          </p:nvPr>
        </p:nvSpPr>
        <p:spPr>
          <a:xfrm>
            <a:off x="1720850" y="2438400"/>
            <a:ext cx="8575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400"/>
              <a:buFont typeface="Open Sans ExtraBold"/>
              <a:buAutoNum type="arabicPeriod"/>
              <a:defRPr sz="24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/>
          <p:nvPr/>
        </p:nvSpPr>
        <p:spPr>
          <a:xfrm>
            <a:off x="1820450" y="1220947"/>
            <a:ext cx="588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</a:pPr>
            <a:r>
              <a:rPr b="0" i="0" lang="en-US" sz="3600" u="non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3600" u="none" cap="non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Headline">
  <p:cSld name="Text with Headlin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8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8"/>
          <p:cNvCxnSpPr/>
          <p:nvPr/>
        </p:nvCxnSpPr>
        <p:spPr>
          <a:xfrm>
            <a:off x="2384121" y="2001772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9" name="Google Shape;4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8"/>
          <p:cNvSpPr txBox="1"/>
          <p:nvPr>
            <p:ph idx="1" type="body"/>
          </p:nvPr>
        </p:nvSpPr>
        <p:spPr>
          <a:xfrm>
            <a:off x="2384425" y="11572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2" type="body"/>
          </p:nvPr>
        </p:nvSpPr>
        <p:spPr>
          <a:xfrm>
            <a:off x="2346325" y="3081338"/>
            <a:ext cx="67470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3" type="body"/>
          </p:nvPr>
        </p:nvSpPr>
        <p:spPr>
          <a:xfrm>
            <a:off x="2346325" y="2535238"/>
            <a:ext cx="66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2346325" y="6318042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-Column">
  <p:cSld name="Two-Colum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9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9"/>
          <p:cNvSpPr txBox="1"/>
          <p:nvPr>
            <p:ph idx="1" type="body"/>
          </p:nvPr>
        </p:nvSpPr>
        <p:spPr>
          <a:xfrm>
            <a:off x="2346325" y="2978150"/>
            <a:ext cx="42894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" name="Google Shape;58;p39"/>
          <p:cNvCxnSpPr/>
          <p:nvPr/>
        </p:nvCxnSpPr>
        <p:spPr>
          <a:xfrm>
            <a:off x="2384121" y="2001772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9" name="Google Shape;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39"/>
          <p:cNvCxnSpPr/>
          <p:nvPr/>
        </p:nvCxnSpPr>
        <p:spPr>
          <a:xfrm flipH="1">
            <a:off x="6861665" y="2624443"/>
            <a:ext cx="36000" cy="260010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2384425" y="11572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3" type="body"/>
          </p:nvPr>
        </p:nvSpPr>
        <p:spPr>
          <a:xfrm>
            <a:off x="2346324" y="2535238"/>
            <a:ext cx="42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4" type="body"/>
          </p:nvPr>
        </p:nvSpPr>
        <p:spPr>
          <a:xfrm>
            <a:off x="7269053" y="2535238"/>
            <a:ext cx="428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5" type="body"/>
          </p:nvPr>
        </p:nvSpPr>
        <p:spPr>
          <a:xfrm>
            <a:off x="7272098" y="2974975"/>
            <a:ext cx="42894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2" type="sldNum"/>
          </p:nvPr>
        </p:nvSpPr>
        <p:spPr>
          <a:xfrm>
            <a:off x="2347165" y="6318250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0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0"/>
          <p:cNvCxnSpPr/>
          <p:nvPr/>
        </p:nvCxnSpPr>
        <p:spPr>
          <a:xfrm>
            <a:off x="2384121" y="2001772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0" name="Google Shape;7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0"/>
          <p:cNvSpPr/>
          <p:nvPr/>
        </p:nvSpPr>
        <p:spPr>
          <a:xfrm>
            <a:off x="2346544" y="2596953"/>
            <a:ext cx="39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Arial"/>
              <a:buNone/>
            </a:pPr>
            <a:r>
              <a:rPr b="0" i="0" lang="en-US" sz="5400" u="non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5400" u="non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0"/>
          <p:cNvSpPr/>
          <p:nvPr>
            <p:ph idx="2" type="pic"/>
          </p:nvPr>
        </p:nvSpPr>
        <p:spPr>
          <a:xfrm rot="428989">
            <a:off x="8715214" y="1582655"/>
            <a:ext cx="2665829" cy="4175158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40"/>
          <p:cNvSpPr txBox="1"/>
          <p:nvPr>
            <p:ph idx="1" type="body"/>
          </p:nvPr>
        </p:nvSpPr>
        <p:spPr>
          <a:xfrm>
            <a:off x="2676100" y="5367415"/>
            <a:ext cx="4413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cap="none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3" type="body"/>
          </p:nvPr>
        </p:nvSpPr>
        <p:spPr>
          <a:xfrm>
            <a:off x="2676525" y="2779713"/>
            <a:ext cx="5286300" cy="22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400"/>
              <a:buNone/>
              <a:defRPr sz="2400">
                <a:solidFill>
                  <a:srgbClr val="5D5D5D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4" type="body"/>
          </p:nvPr>
        </p:nvSpPr>
        <p:spPr>
          <a:xfrm>
            <a:off x="2384425" y="11572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2" type="sldNum"/>
          </p:nvPr>
        </p:nvSpPr>
        <p:spPr>
          <a:xfrm>
            <a:off x="2325685" y="6332948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1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1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41"/>
          <p:cNvCxnSpPr/>
          <p:nvPr/>
        </p:nvCxnSpPr>
        <p:spPr>
          <a:xfrm>
            <a:off x="2384121" y="2001772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2" name="Google Shape;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1"/>
          <p:cNvSpPr txBox="1"/>
          <p:nvPr>
            <p:ph idx="1" type="body"/>
          </p:nvPr>
        </p:nvSpPr>
        <p:spPr>
          <a:xfrm>
            <a:off x="2384425" y="11572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2" type="body"/>
          </p:nvPr>
        </p:nvSpPr>
        <p:spPr>
          <a:xfrm>
            <a:off x="2393950" y="2535238"/>
            <a:ext cx="68166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3" type="body"/>
          </p:nvPr>
        </p:nvSpPr>
        <p:spPr>
          <a:xfrm>
            <a:off x="2708275" y="6342063"/>
            <a:ext cx="5768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i="1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-Out">
  <p:cSld name="Call-Ou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2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42"/>
          <p:cNvCxnSpPr/>
          <p:nvPr/>
        </p:nvCxnSpPr>
        <p:spPr>
          <a:xfrm>
            <a:off x="2384121" y="2001772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0" name="Google Shape;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2"/>
          <p:cNvCxnSpPr/>
          <p:nvPr/>
        </p:nvCxnSpPr>
        <p:spPr>
          <a:xfrm>
            <a:off x="2382685" y="3389704"/>
            <a:ext cx="9203100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2" name="Google Shape;92;p42"/>
          <p:cNvCxnSpPr/>
          <p:nvPr/>
        </p:nvCxnSpPr>
        <p:spPr>
          <a:xfrm>
            <a:off x="2382685" y="4675735"/>
            <a:ext cx="9203100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3" name="Google Shape;93;p42"/>
          <p:cNvCxnSpPr/>
          <p:nvPr/>
        </p:nvCxnSpPr>
        <p:spPr>
          <a:xfrm>
            <a:off x="2382685" y="6017521"/>
            <a:ext cx="9203100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" name="Google Shape;94;p42"/>
          <p:cNvSpPr txBox="1"/>
          <p:nvPr>
            <p:ph idx="1" type="body"/>
          </p:nvPr>
        </p:nvSpPr>
        <p:spPr>
          <a:xfrm>
            <a:off x="2384425" y="11572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2" type="body"/>
          </p:nvPr>
        </p:nvSpPr>
        <p:spPr>
          <a:xfrm>
            <a:off x="2457450" y="2378670"/>
            <a:ext cx="150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3" type="body"/>
          </p:nvPr>
        </p:nvSpPr>
        <p:spPr>
          <a:xfrm>
            <a:off x="4302125" y="2448025"/>
            <a:ext cx="68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2"/>
          <p:cNvSpPr txBox="1"/>
          <p:nvPr>
            <p:ph idx="4" type="body"/>
          </p:nvPr>
        </p:nvSpPr>
        <p:spPr>
          <a:xfrm>
            <a:off x="2457450" y="3601170"/>
            <a:ext cx="150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5" type="body"/>
          </p:nvPr>
        </p:nvSpPr>
        <p:spPr>
          <a:xfrm>
            <a:off x="4302125" y="3670525"/>
            <a:ext cx="68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6" type="body"/>
          </p:nvPr>
        </p:nvSpPr>
        <p:spPr>
          <a:xfrm>
            <a:off x="2457450" y="4884025"/>
            <a:ext cx="1503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7" type="body"/>
          </p:nvPr>
        </p:nvSpPr>
        <p:spPr>
          <a:xfrm>
            <a:off x="4302125" y="4953380"/>
            <a:ext cx="683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12" type="sldNum"/>
          </p:nvPr>
        </p:nvSpPr>
        <p:spPr>
          <a:xfrm>
            <a:off x="2341697" y="6316472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Photo">
  <p:cSld name="Column and Phot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3"/>
          <p:cNvCxnSpPr/>
          <p:nvPr/>
        </p:nvCxnSpPr>
        <p:spPr>
          <a:xfrm>
            <a:off x="813071" y="2001772"/>
            <a:ext cx="32958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6" name="Google Shape;1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3"/>
          <p:cNvSpPr/>
          <p:nvPr/>
        </p:nvSpPr>
        <p:spPr>
          <a:xfrm>
            <a:off x="4884234" y="0"/>
            <a:ext cx="73077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3"/>
          <p:cNvSpPr/>
          <p:nvPr>
            <p:ph idx="2" type="pic"/>
          </p:nvPr>
        </p:nvSpPr>
        <p:spPr>
          <a:xfrm>
            <a:off x="4884738" y="0"/>
            <a:ext cx="7307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43"/>
          <p:cNvSpPr txBox="1"/>
          <p:nvPr>
            <p:ph idx="1" type="body"/>
          </p:nvPr>
        </p:nvSpPr>
        <p:spPr>
          <a:xfrm>
            <a:off x="812800" y="600075"/>
            <a:ext cx="3295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3" type="body"/>
          </p:nvPr>
        </p:nvSpPr>
        <p:spPr>
          <a:xfrm>
            <a:off x="776288" y="2535238"/>
            <a:ext cx="33324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3"/>
          <p:cNvSpPr txBox="1"/>
          <p:nvPr>
            <p:ph idx="12" type="sldNum"/>
          </p:nvPr>
        </p:nvSpPr>
        <p:spPr>
          <a:xfrm>
            <a:off x="812800" y="6332948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and Image">
  <p:cSld name="Column and Imag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44"/>
          <p:cNvCxnSpPr/>
          <p:nvPr/>
        </p:nvCxnSpPr>
        <p:spPr>
          <a:xfrm>
            <a:off x="813071" y="2001772"/>
            <a:ext cx="32958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14" name="Google Shape;11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4"/>
          <p:cNvSpPr txBox="1"/>
          <p:nvPr>
            <p:ph idx="1" type="body"/>
          </p:nvPr>
        </p:nvSpPr>
        <p:spPr>
          <a:xfrm>
            <a:off x="812800" y="600075"/>
            <a:ext cx="3295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4"/>
          <p:cNvSpPr txBox="1"/>
          <p:nvPr>
            <p:ph idx="2" type="body"/>
          </p:nvPr>
        </p:nvSpPr>
        <p:spPr>
          <a:xfrm>
            <a:off x="776288" y="2535238"/>
            <a:ext cx="3332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4"/>
          <p:cNvSpPr/>
          <p:nvPr>
            <p:ph idx="3" type="pic"/>
          </p:nvPr>
        </p:nvSpPr>
        <p:spPr>
          <a:xfrm>
            <a:off x="4884738" y="1190625"/>
            <a:ext cx="6977400" cy="51276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44"/>
          <p:cNvSpPr txBox="1"/>
          <p:nvPr>
            <p:ph idx="12" type="sldNum"/>
          </p:nvPr>
        </p:nvSpPr>
        <p:spPr>
          <a:xfrm>
            <a:off x="810122" y="6332948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">
  <p:cSld name="Full-Slide Photo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Column Photo &amp; Text">
  <p:cSld name="3-Column Photo &amp; 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6"/>
          <p:cNvSpPr/>
          <p:nvPr/>
        </p:nvSpPr>
        <p:spPr>
          <a:xfrm>
            <a:off x="4186479" y="134938"/>
            <a:ext cx="3862800" cy="6595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6"/>
          <p:cNvSpPr/>
          <p:nvPr/>
        </p:nvSpPr>
        <p:spPr>
          <a:xfrm>
            <a:off x="8184191" y="134938"/>
            <a:ext cx="3862800" cy="6595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6"/>
          <p:cNvSpPr/>
          <p:nvPr/>
        </p:nvSpPr>
        <p:spPr>
          <a:xfrm>
            <a:off x="166464" y="134938"/>
            <a:ext cx="3885000" cy="6595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6"/>
          <p:cNvSpPr txBox="1"/>
          <p:nvPr>
            <p:ph idx="1" type="body"/>
          </p:nvPr>
        </p:nvSpPr>
        <p:spPr>
          <a:xfrm>
            <a:off x="166688" y="134938"/>
            <a:ext cx="3884700" cy="6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46"/>
          <p:cNvSpPr txBox="1"/>
          <p:nvPr>
            <p:ph idx="2" type="body"/>
          </p:nvPr>
        </p:nvSpPr>
        <p:spPr>
          <a:xfrm>
            <a:off x="4186478" y="134938"/>
            <a:ext cx="3862800" cy="6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3" type="body"/>
          </p:nvPr>
        </p:nvSpPr>
        <p:spPr>
          <a:xfrm>
            <a:off x="8184191" y="134938"/>
            <a:ext cx="3862800" cy="6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000"/>
              <a:buNone/>
              <a:defRPr>
                <a:solidFill>
                  <a:srgbClr val="82828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30" name="Google Shape;130;p4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1" name="Google Shape;131;p47"/>
          <p:cNvSpPr txBox="1"/>
          <p:nvPr>
            <p:ph idx="12" type="sldNum"/>
          </p:nvPr>
        </p:nvSpPr>
        <p:spPr>
          <a:xfrm>
            <a:off x="11296610" y="6217622"/>
            <a:ext cx="73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2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2308225" y="6320927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2"/>
          <p:cNvSpPr/>
          <p:nvPr>
            <p:ph idx="2" type="chart"/>
          </p:nvPr>
        </p:nvSpPr>
        <p:spPr>
          <a:xfrm>
            <a:off x="2308225" y="2682875"/>
            <a:ext cx="7102475" cy="318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lvl="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lvl="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lvl="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cxnSp>
        <p:nvCxnSpPr>
          <p:cNvPr id="146" name="Google Shape;146;p32"/>
          <p:cNvCxnSpPr/>
          <p:nvPr/>
        </p:nvCxnSpPr>
        <p:spPr>
          <a:xfrm>
            <a:off x="2384121" y="1615723"/>
            <a:ext cx="9177402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7" name="Google Shape;1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639" y="2683253"/>
            <a:ext cx="4782721" cy="3188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>
            <p:ph idx="1" type="body"/>
          </p:nvPr>
        </p:nvSpPr>
        <p:spPr>
          <a:xfrm>
            <a:off x="2384125" y="780363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3" type="body"/>
          </p:nvPr>
        </p:nvSpPr>
        <p:spPr>
          <a:xfrm>
            <a:off x="2308225" y="2179638"/>
            <a:ext cx="6676559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b="1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3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2335568" y="6328495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>
            <p:ph idx="1" type="body"/>
          </p:nvPr>
        </p:nvSpPr>
        <p:spPr>
          <a:xfrm>
            <a:off x="2384125" y="79443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2" type="body"/>
          </p:nvPr>
        </p:nvSpPr>
        <p:spPr>
          <a:xfrm>
            <a:off x="2384125" y="2171238"/>
            <a:ext cx="6816600" cy="30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3" type="body"/>
          </p:nvPr>
        </p:nvSpPr>
        <p:spPr>
          <a:xfrm>
            <a:off x="2708275" y="6342063"/>
            <a:ext cx="57681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i="1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8" name="Google Shape;158;p33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8"/>
          <p:cNvSpPr/>
          <p:nvPr/>
        </p:nvSpPr>
        <p:spPr>
          <a:xfrm>
            <a:off x="4972833" y="0"/>
            <a:ext cx="721916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48"/>
          <p:cNvCxnSpPr/>
          <p:nvPr/>
        </p:nvCxnSpPr>
        <p:spPr>
          <a:xfrm>
            <a:off x="5776231" y="3745282"/>
            <a:ext cx="5687223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3" name="Google Shape;163;p48"/>
          <p:cNvSpPr txBox="1"/>
          <p:nvPr>
            <p:ph idx="1" type="body"/>
          </p:nvPr>
        </p:nvSpPr>
        <p:spPr>
          <a:xfrm>
            <a:off x="5732463" y="2284413"/>
            <a:ext cx="57308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8"/>
          <p:cNvSpPr txBox="1"/>
          <p:nvPr>
            <p:ph idx="2" type="body"/>
          </p:nvPr>
        </p:nvSpPr>
        <p:spPr>
          <a:xfrm>
            <a:off x="5788025" y="4026802"/>
            <a:ext cx="3270250" cy="338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b="1" sz="1600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5" name="Google Shape;1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543" y="2556221"/>
            <a:ext cx="2078103" cy="13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8"/>
          <p:cNvSpPr txBox="1"/>
          <p:nvPr>
            <p:ph idx="3" type="body"/>
          </p:nvPr>
        </p:nvSpPr>
        <p:spPr>
          <a:xfrm>
            <a:off x="5781891" y="4449077"/>
            <a:ext cx="59261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">
  <p:cSld name="Agenda Slid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9"/>
          <p:cNvSpPr/>
          <p:nvPr/>
        </p:nvSpPr>
        <p:spPr>
          <a:xfrm>
            <a:off x="588723" y="588724"/>
            <a:ext cx="11014553" cy="568055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49"/>
          <p:cNvCxnSpPr/>
          <p:nvPr/>
        </p:nvCxnSpPr>
        <p:spPr>
          <a:xfrm>
            <a:off x="1757819" y="2035793"/>
            <a:ext cx="8538576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1" name="Google Shape;171;p49"/>
          <p:cNvSpPr txBox="1"/>
          <p:nvPr>
            <p:ph idx="1" type="body"/>
          </p:nvPr>
        </p:nvSpPr>
        <p:spPr>
          <a:xfrm>
            <a:off x="1720850" y="2438400"/>
            <a:ext cx="8575545" cy="280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400"/>
              <a:buFont typeface="Open Sans ExtraBold"/>
              <a:buAutoNum type="arabicPeriod"/>
              <a:defRPr sz="24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Font typeface="Open Sans ExtraBold"/>
              <a:buAutoNum type="arabicPeriod"/>
              <a:defRPr sz="2400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9"/>
          <p:cNvSpPr/>
          <p:nvPr/>
        </p:nvSpPr>
        <p:spPr>
          <a:xfrm>
            <a:off x="1820450" y="1220947"/>
            <a:ext cx="5883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</a:pPr>
            <a:r>
              <a:rPr b="0" i="0" lang="en-US" sz="3600" u="non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3600" u="none" cap="non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0"/>
          <p:cNvSpPr txBox="1"/>
          <p:nvPr>
            <p:ph idx="1" type="body"/>
          </p:nvPr>
        </p:nvSpPr>
        <p:spPr>
          <a:xfrm>
            <a:off x="3154363" y="3044825"/>
            <a:ext cx="58832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indent="-508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2pPr>
            <a:lvl3pPr indent="-508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3pPr>
            <a:lvl4pPr indent="-508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4pPr>
            <a:lvl5pPr indent="-508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4400"/>
              <a:buChar char="•"/>
              <a:defRPr sz="4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with Headline">
  <p:cSld name="Text with Headlin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1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1"/>
          <p:cNvSpPr txBox="1"/>
          <p:nvPr>
            <p:ph idx="1" type="body"/>
          </p:nvPr>
        </p:nvSpPr>
        <p:spPr>
          <a:xfrm>
            <a:off x="2384125" y="83048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51"/>
          <p:cNvSpPr txBox="1"/>
          <p:nvPr>
            <p:ph idx="2" type="body"/>
          </p:nvPr>
        </p:nvSpPr>
        <p:spPr>
          <a:xfrm>
            <a:off x="2346325" y="3081338"/>
            <a:ext cx="6746875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51"/>
          <p:cNvSpPr txBox="1"/>
          <p:nvPr>
            <p:ph idx="3" type="body"/>
          </p:nvPr>
        </p:nvSpPr>
        <p:spPr>
          <a:xfrm>
            <a:off x="2346325" y="2535238"/>
            <a:ext cx="66389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51"/>
          <p:cNvSpPr txBox="1"/>
          <p:nvPr>
            <p:ph idx="12" type="sldNum"/>
          </p:nvPr>
        </p:nvSpPr>
        <p:spPr>
          <a:xfrm>
            <a:off x="2346325" y="6318042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5" name="Google Shape;185;p51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-Column">
  <p:cSld name="Two-Colum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2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2"/>
          <p:cNvSpPr txBox="1"/>
          <p:nvPr>
            <p:ph idx="1" type="body"/>
          </p:nvPr>
        </p:nvSpPr>
        <p:spPr>
          <a:xfrm>
            <a:off x="2346325" y="2978150"/>
            <a:ext cx="4289425" cy="224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0" name="Google Shape;19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52"/>
          <p:cNvCxnSpPr/>
          <p:nvPr/>
        </p:nvCxnSpPr>
        <p:spPr>
          <a:xfrm flipH="1">
            <a:off x="6861569" y="2624443"/>
            <a:ext cx="36096" cy="260002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2" name="Google Shape;192;p52"/>
          <p:cNvSpPr txBox="1"/>
          <p:nvPr>
            <p:ph idx="2" type="body"/>
          </p:nvPr>
        </p:nvSpPr>
        <p:spPr>
          <a:xfrm>
            <a:off x="2347175" y="808938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52"/>
          <p:cNvSpPr txBox="1"/>
          <p:nvPr>
            <p:ph idx="3" type="body"/>
          </p:nvPr>
        </p:nvSpPr>
        <p:spPr>
          <a:xfrm>
            <a:off x="2346324" y="2535238"/>
            <a:ext cx="42886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52"/>
          <p:cNvSpPr txBox="1"/>
          <p:nvPr>
            <p:ph idx="4" type="body"/>
          </p:nvPr>
        </p:nvSpPr>
        <p:spPr>
          <a:xfrm>
            <a:off x="7269053" y="2535238"/>
            <a:ext cx="42886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52"/>
          <p:cNvSpPr txBox="1"/>
          <p:nvPr>
            <p:ph idx="5" type="body"/>
          </p:nvPr>
        </p:nvSpPr>
        <p:spPr>
          <a:xfrm>
            <a:off x="7272098" y="2974975"/>
            <a:ext cx="4289425" cy="224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52"/>
          <p:cNvSpPr txBox="1"/>
          <p:nvPr>
            <p:ph idx="12" type="sldNum"/>
          </p:nvPr>
        </p:nvSpPr>
        <p:spPr>
          <a:xfrm>
            <a:off x="2347165" y="6318250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7" name="Google Shape;197;p52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3"/>
          <p:cNvSpPr/>
          <p:nvPr/>
        </p:nvSpPr>
        <p:spPr>
          <a:xfrm>
            <a:off x="1152395" y="0"/>
            <a:ext cx="11039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3"/>
          <p:cNvSpPr/>
          <p:nvPr/>
        </p:nvSpPr>
        <p:spPr>
          <a:xfrm>
            <a:off x="2346544" y="2596953"/>
            <a:ext cx="3930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5400"/>
              <a:buFont typeface="Crimson Text"/>
              <a:buNone/>
            </a:pPr>
            <a:r>
              <a:rPr b="0" i="0" lang="en-US" sz="5400" u="none" cap="none">
                <a:solidFill>
                  <a:srgbClr val="A5A5A5"/>
                </a:solidFill>
                <a:latin typeface="Crimson Text"/>
                <a:ea typeface="Crimson Text"/>
                <a:cs typeface="Crimson Text"/>
                <a:sym typeface="Crimson Text"/>
              </a:rPr>
              <a:t>“</a:t>
            </a:r>
            <a:endParaRPr b="0" i="0" sz="5400" u="none" cap="none">
              <a:solidFill>
                <a:srgbClr val="A5A5A5"/>
              </a:solidFill>
              <a:latin typeface="Crimson Text"/>
              <a:ea typeface="Crimson Text"/>
              <a:cs typeface="Crimson Text"/>
              <a:sym typeface="Crimson Text"/>
            </a:endParaRPr>
          </a:p>
        </p:txBody>
      </p:sp>
      <p:sp>
        <p:nvSpPr>
          <p:cNvPr id="203" name="Google Shape;203;p53"/>
          <p:cNvSpPr/>
          <p:nvPr>
            <p:ph idx="2" type="pic"/>
          </p:nvPr>
        </p:nvSpPr>
        <p:spPr>
          <a:xfrm rot="429021">
            <a:off x="8715166" y="1582670"/>
            <a:ext cx="2665962" cy="4175125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53"/>
          <p:cNvSpPr txBox="1"/>
          <p:nvPr>
            <p:ph idx="1" type="body"/>
          </p:nvPr>
        </p:nvSpPr>
        <p:spPr>
          <a:xfrm>
            <a:off x="2676100" y="5367415"/>
            <a:ext cx="4413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cap="none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3"/>
          <p:cNvSpPr txBox="1"/>
          <p:nvPr>
            <p:ph idx="3" type="body"/>
          </p:nvPr>
        </p:nvSpPr>
        <p:spPr>
          <a:xfrm>
            <a:off x="2676525" y="2779713"/>
            <a:ext cx="5286375" cy="221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400"/>
              <a:buNone/>
              <a:defRPr sz="2400">
                <a:solidFill>
                  <a:srgbClr val="5D5D5D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28282"/>
              </a:buClr>
              <a:buSzPts val="2400"/>
              <a:buChar char="•"/>
              <a:defRPr sz="2400">
                <a:solidFill>
                  <a:srgbClr val="82828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53"/>
          <p:cNvSpPr txBox="1"/>
          <p:nvPr>
            <p:ph idx="4" type="body"/>
          </p:nvPr>
        </p:nvSpPr>
        <p:spPr>
          <a:xfrm>
            <a:off x="2378063" y="786763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53"/>
          <p:cNvSpPr txBox="1"/>
          <p:nvPr>
            <p:ph idx="12" type="sldNum"/>
          </p:nvPr>
        </p:nvSpPr>
        <p:spPr>
          <a:xfrm>
            <a:off x="2325685" y="6332948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8" name="Google Shape;208;p53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-Out">
  <p:cSld name="Call-Ou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4"/>
          <p:cNvSpPr/>
          <p:nvPr/>
        </p:nvSpPr>
        <p:spPr>
          <a:xfrm>
            <a:off x="1152395" y="0"/>
            <a:ext cx="1103960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784" y="6375748"/>
            <a:ext cx="2877363" cy="252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54"/>
          <p:cNvCxnSpPr/>
          <p:nvPr/>
        </p:nvCxnSpPr>
        <p:spPr>
          <a:xfrm>
            <a:off x="2382685" y="3389704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4" name="Google Shape;214;p54"/>
          <p:cNvCxnSpPr/>
          <p:nvPr/>
        </p:nvCxnSpPr>
        <p:spPr>
          <a:xfrm>
            <a:off x="2382685" y="4675735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15" name="Google Shape;215;p54"/>
          <p:cNvCxnSpPr/>
          <p:nvPr/>
        </p:nvCxnSpPr>
        <p:spPr>
          <a:xfrm>
            <a:off x="2382685" y="6017521"/>
            <a:ext cx="9202993" cy="0"/>
          </a:xfrm>
          <a:prstGeom prst="straightConnector1">
            <a:avLst/>
          </a:prstGeom>
          <a:noFill/>
          <a:ln cap="flat" cmpd="sng" w="19050">
            <a:solidFill>
              <a:srgbClr val="7F7F7F">
                <a:alpha val="20000"/>
              </a:srgbClr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6" name="Google Shape;216;p54"/>
          <p:cNvSpPr txBox="1"/>
          <p:nvPr>
            <p:ph idx="1" type="body"/>
          </p:nvPr>
        </p:nvSpPr>
        <p:spPr>
          <a:xfrm>
            <a:off x="2384125" y="867013"/>
            <a:ext cx="588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54"/>
          <p:cNvSpPr txBox="1"/>
          <p:nvPr>
            <p:ph idx="2" type="body"/>
          </p:nvPr>
        </p:nvSpPr>
        <p:spPr>
          <a:xfrm>
            <a:off x="2457450" y="2378670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54"/>
          <p:cNvSpPr txBox="1"/>
          <p:nvPr>
            <p:ph idx="3" type="body"/>
          </p:nvPr>
        </p:nvSpPr>
        <p:spPr>
          <a:xfrm>
            <a:off x="4302125" y="2448025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54"/>
          <p:cNvSpPr txBox="1"/>
          <p:nvPr>
            <p:ph idx="4" type="body"/>
          </p:nvPr>
        </p:nvSpPr>
        <p:spPr>
          <a:xfrm>
            <a:off x="2457450" y="3601170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54"/>
          <p:cNvSpPr txBox="1"/>
          <p:nvPr>
            <p:ph idx="5" type="body"/>
          </p:nvPr>
        </p:nvSpPr>
        <p:spPr>
          <a:xfrm>
            <a:off x="4302125" y="3670525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54"/>
          <p:cNvSpPr txBox="1"/>
          <p:nvPr>
            <p:ph idx="6" type="body"/>
          </p:nvPr>
        </p:nvSpPr>
        <p:spPr>
          <a:xfrm>
            <a:off x="2457450" y="4884025"/>
            <a:ext cx="1503363" cy="923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54"/>
          <p:cNvSpPr txBox="1"/>
          <p:nvPr>
            <p:ph idx="7" type="body"/>
          </p:nvPr>
        </p:nvSpPr>
        <p:spPr>
          <a:xfrm>
            <a:off x="4302125" y="4953380"/>
            <a:ext cx="68326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>
                <a:solidFill>
                  <a:srgbClr val="5D5D5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54"/>
          <p:cNvSpPr txBox="1"/>
          <p:nvPr>
            <p:ph idx="12" type="sldNum"/>
          </p:nvPr>
        </p:nvSpPr>
        <p:spPr>
          <a:xfrm>
            <a:off x="2341697" y="6316472"/>
            <a:ext cx="35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  <a:defRPr b="0" i="0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4" name="Google Shape;224;p54"/>
          <p:cNvCxnSpPr/>
          <p:nvPr/>
        </p:nvCxnSpPr>
        <p:spPr>
          <a:xfrm>
            <a:off x="2384121" y="1615723"/>
            <a:ext cx="91773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Slide Photo">
  <p:cSld name="Full-Slide Photo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b="0" i="0" sz="36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11073918" y="6400413"/>
            <a:ext cx="27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b="0" i="0" sz="36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pen Sans Light"/>
              <a:buNone/>
              <a:defRPr b="0" i="0" sz="1200" u="non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/>
          <p:nvPr/>
        </p:nvSpPr>
        <p:spPr>
          <a:xfrm>
            <a:off x="4972833" y="0"/>
            <a:ext cx="7219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04543" y="2556221"/>
            <a:ext cx="2078103" cy="131967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"/>
          <p:cNvSpPr/>
          <p:nvPr/>
        </p:nvSpPr>
        <p:spPr>
          <a:xfrm>
            <a:off x="5514525" y="1572625"/>
            <a:ext cx="63492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Guided Project: Latent Denoising Diffusion Probabilistic Models</a:t>
            </a:r>
            <a:endParaRPr b="0" i="0" sz="3600" u="none" cap="none">
              <a:solidFill>
                <a:srgbClr val="5D5D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t/>
            </a:r>
            <a:endParaRPr b="0" i="0" sz="4200" u="non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5611675" y="3855350"/>
            <a:ext cx="5940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Arial"/>
              <a:buNone/>
            </a:pPr>
            <a:r>
              <a:rPr b="0" i="0" lang="en-US" sz="2300" u="non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Introduction to Deep Learning Fall 2026</a:t>
            </a:r>
            <a:endParaRPr b="0" i="0" sz="2300" u="none" cap="non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5611675" y="4683975"/>
            <a:ext cx="646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Arial"/>
              <a:buNone/>
            </a:pPr>
            <a:r>
              <a:rPr b="0" i="0" lang="en-US" sz="1900" u="non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TAs:</a:t>
            </a:r>
            <a:endParaRPr b="0" i="0" sz="1900" u="none" cap="none">
              <a:solidFill>
                <a:srgbClr val="5D5D5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 Light"/>
              <a:buChar char="●"/>
            </a:pPr>
            <a:r>
              <a:rPr lang="en-US" sz="1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Yixiong Fang</a:t>
            </a:r>
            <a:endParaRPr sz="1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 Light"/>
              <a:buChar char="●"/>
            </a:pPr>
            <a:r>
              <a:rPr lang="en-US" sz="1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Kanping Liu</a:t>
            </a:r>
            <a:endParaRPr sz="1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 an image generator learns</a:t>
            </a:r>
            <a:endParaRPr/>
          </a:p>
        </p:txBody>
      </p:sp>
      <p:sp>
        <p:nvSpPr>
          <p:cNvPr id="242" name="Google Shape;242;p2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An image is a grid of pixels. Each pixel stores color information.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 neural network learns patterns from examples by adjusting its internal numbers, called weights.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Training uses many real images to learn patterns such as shapes, textures, and object parts.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Generation, also called sampling, uses the trained model to create a new image. The model keeps its learned weights while it generates.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49" name="Google Shape;249;p3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idea behind diffusion</a:t>
            </a:r>
            <a:endParaRPr/>
          </a:p>
        </p:txBody>
      </p:sp>
      <p:sp>
        <p:nvSpPr>
          <p:cNvPr id="250" name="Google Shape;250;p3"/>
          <p:cNvSpPr/>
          <p:nvPr/>
        </p:nvSpPr>
        <p:spPr>
          <a:xfrm>
            <a:off x="2476500" y="2019300"/>
            <a:ext cx="885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325"/>
              <a:buFont typeface="Open Sans"/>
              <a:buNone/>
            </a:pPr>
            <a:r>
              <a:rPr b="0" lang="en-US" sz="23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Add noise to an image. Learn to reverse the process.</a:t>
            </a:r>
            <a:endParaRPr/>
          </a:p>
        </p:txBody>
      </p:sp>
      <p:pic>
        <p:nvPicPr>
          <p:cNvPr id="251" name="Google Shape;2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2943369"/>
            <a:ext cx="8953500" cy="179231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"/>
          <p:cNvSpPr/>
          <p:nvPr/>
        </p:nvSpPr>
        <p:spPr>
          <a:xfrm>
            <a:off x="2476500" y="4895850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Clean image</a:t>
            </a:r>
            <a:endParaRPr/>
          </a:p>
        </p:txBody>
      </p:sp>
      <p:sp>
        <p:nvSpPr>
          <p:cNvPr id="253" name="Google Shape;253;p3"/>
          <p:cNvSpPr/>
          <p:nvPr/>
        </p:nvSpPr>
        <p:spPr>
          <a:xfrm>
            <a:off x="5619750" y="4895850"/>
            <a:ext cx="2857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Increasing noise</a:t>
            </a:r>
            <a:endParaRPr/>
          </a:p>
        </p:txBody>
      </p:sp>
      <p:sp>
        <p:nvSpPr>
          <p:cNvPr id="254" name="Google Shape;254;p3"/>
          <p:cNvSpPr/>
          <p:nvPr/>
        </p:nvSpPr>
        <p:spPr>
          <a:xfrm>
            <a:off x="9334500" y="4895850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Almost pure noise</a:t>
            </a:r>
            <a:endParaRPr/>
          </a:p>
        </p:txBody>
      </p:sp>
      <p:sp>
        <p:nvSpPr>
          <p:cNvPr id="255" name="Google Shape;255;p3"/>
          <p:cNvSpPr/>
          <p:nvPr/>
        </p:nvSpPr>
        <p:spPr>
          <a:xfrm>
            <a:off x="2476500" y="5553075"/>
            <a:ext cx="895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0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To generate a new image, start from fresh noise and denoise.</a:t>
            </a:r>
            <a:endParaRPr/>
          </a:p>
        </p:txBody>
      </p:sp>
      <p:sp>
        <p:nvSpPr>
          <p:cNvPr id="256" name="Google Shape;256;p3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Figure: Rogge &amp; Rasul, The Annotated Diffusion Model, Hugging Face (2022)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63" name="Google Shape;263;p4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Noise and denoising</a:t>
            </a:r>
            <a:endParaRPr/>
          </a:p>
        </p:txBody>
      </p:sp>
      <p:sp>
        <p:nvSpPr>
          <p:cNvPr id="264" name="Google Shape;264;p4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Noise is random variation added to the pixel values. It makes an image look grainy and gradually hides its structure.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noise level tells us how much of the original image remains visible. A timestep identifies a level in the noise schedule.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Denoising means estimating how to move a noisy image toward a cleaner, more plausible image.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At high noise levels, many clean images could fit. The model uses patterns learned during training to guide each update.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71" name="Google Shape;271;p5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 you will build</a:t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 will train a model to generate new images resembling the ImageNet-100 training set.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First, build a working DDPM. This baseline gives you a starting result to compare later improvements against.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Then make generation faster and move the model into a smaller representation of each image.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Finally, let a user choose an image category. Measure the results and explain which changes helped.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79" name="Google Shape;279;p6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Your dataset: ImageNet-100</a:t>
            </a:r>
            <a:endParaRPr/>
          </a:p>
        </p:txBody>
      </p:sp>
      <p:pic>
        <p:nvPicPr>
          <p:cNvPr id="280" name="Google Shape;2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25" y="2114550"/>
            <a:ext cx="4073843" cy="386238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6"/>
          <p:cNvSpPr/>
          <p:nvPr/>
        </p:nvSpPr>
        <p:spPr>
          <a:xfrm>
            <a:off x="2476500" y="2028825"/>
            <a:ext cx="4333875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Char char="•"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About 130,000 images at 128 by 128 pixels.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Char char="•"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100 classes, meaning 100 categories of animals or objects.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Char char="•"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Training images teach the model.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60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Char char="•"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Validation images provide a separate reference for evaluation.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88" name="Google Shape;288;p7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project roadmap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DDPM: learn to generate images through repeated denoising.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DDIM: reuse the trained model with fewer generation steps.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Latent diffusion: use a VAE to denoise compressed image representations.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Classifier-free guidance: steer generation toward a chosen class.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Evaluation and exploration: measure every stage and test improvements.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296" name="Google Shape;296;p8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DDPM: the baseline model</a:t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DDPM means Denoising Diffusion Probabilistic Model. It generates images through many small denoising steps.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For training, take a real image and add noise yourself. You now know exactly which noise the model should predict.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prediction error is called the loss. Backpropagation helps update the network weights to reduce that error.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After training, reuse the same network at each generation step. It helps turn a fresh noise sample into an image.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04" name="Google Shape;304;p9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U-Net: the noise predictor</a:t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U-Net is the neural network inside your diffusion model. It receives a noisy image and its current noise level.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One path reduces the image size to recognize broader patterns. Another path returns to the original size.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Connections between the paths carry fine details forward. The output is an estimate of the noise in the input.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assemble the supplied network modules and train them to make accurate noise predictions.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DDPM: learning to denoise</a:t>
            </a:r>
            <a:endParaRPr/>
          </a:p>
        </p:txBody>
      </p:sp>
      <p:pic>
        <p:nvPicPr>
          <p:cNvPr id="313" name="Google Shape;3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25" y="1771900"/>
            <a:ext cx="7572375" cy="4305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Figure: Jay Alammar (2022), CC BY-NC-SA 4.0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21" name="Google Shape;321;p11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noise scheduler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 noise schedule sets the noise levels used by the diffusion process. The scheduler applies the rules for those levels.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During training, it adds the chosen amount of noise to a clean image. The U-Net then learns to predict that noise.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During generation, it uses the prediction to compute the next, less noisy image. DDPM also adds randomness in most steps.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implement noise addition and the sampling updates, then connect the scheduler to the U-Net.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29" name="Google Shape;329;p12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DDPM: generating an image</a:t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2476500" y="1990725"/>
            <a:ext cx="8953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325"/>
              <a:buFont typeface="Open Sans"/>
              <a:buNone/>
            </a:pPr>
            <a:r>
              <a:rPr b="0" lang="en-US" sz="23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 new image emerges through repeated denoising.</a:t>
            </a:r>
            <a:endParaRPr/>
          </a:p>
        </p:txBody>
      </p:sp>
      <p:pic>
        <p:nvPicPr>
          <p:cNvPr id="331" name="Google Shape;331;p12"/>
          <p:cNvPicPr preferRelativeResize="0"/>
          <p:nvPr/>
        </p:nvPicPr>
        <p:blipFill rotWithShape="1">
          <a:blip r:embed="rId3">
            <a:alphaModFix/>
          </a:blip>
          <a:srcRect b="12500" l="26389" r="23611" t="12500"/>
          <a:stretch/>
        </p:blipFill>
        <p:spPr>
          <a:xfrm>
            <a:off x="2476500" y="3048000"/>
            <a:ext cx="157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2"/>
          <p:cNvPicPr preferRelativeResize="0"/>
          <p:nvPr/>
        </p:nvPicPr>
        <p:blipFill rotWithShape="1">
          <a:blip r:embed="rId4">
            <a:alphaModFix/>
          </a:blip>
          <a:srcRect b="12500" l="26389" r="23611" t="12500"/>
          <a:stretch/>
        </p:blipFill>
        <p:spPr>
          <a:xfrm>
            <a:off x="4333875" y="3048000"/>
            <a:ext cx="157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2"/>
          <p:cNvPicPr preferRelativeResize="0"/>
          <p:nvPr/>
        </p:nvPicPr>
        <p:blipFill rotWithShape="1">
          <a:blip r:embed="rId5">
            <a:alphaModFix/>
          </a:blip>
          <a:srcRect b="12500" l="26389" r="23611" t="12500"/>
          <a:stretch/>
        </p:blipFill>
        <p:spPr>
          <a:xfrm>
            <a:off x="6191250" y="3048000"/>
            <a:ext cx="157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2"/>
          <p:cNvPicPr preferRelativeResize="0"/>
          <p:nvPr/>
        </p:nvPicPr>
        <p:blipFill rotWithShape="1">
          <a:blip r:embed="rId6">
            <a:alphaModFix/>
          </a:blip>
          <a:srcRect b="12500" l="26389" r="23611" t="12500"/>
          <a:stretch/>
        </p:blipFill>
        <p:spPr>
          <a:xfrm>
            <a:off x="8048625" y="3048000"/>
            <a:ext cx="157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2"/>
          <p:cNvPicPr preferRelativeResize="0"/>
          <p:nvPr/>
        </p:nvPicPr>
        <p:blipFill rotWithShape="1">
          <a:blip r:embed="rId7">
            <a:alphaModFix/>
          </a:blip>
          <a:srcRect b="12500" l="26389" r="23611" t="12500"/>
          <a:stretch/>
        </p:blipFill>
        <p:spPr>
          <a:xfrm>
            <a:off x="9906000" y="3048000"/>
            <a:ext cx="1571625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2476500" y="4791075"/>
            <a:ext cx="2047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Random noise</a:t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5572125" y="4791075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Repeated denoising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9906000" y="4791075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Open Sans"/>
              <a:buNone/>
            </a:pPr>
            <a:r>
              <a:rPr b="0" lang="en-US" sz="18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New image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2476500" y="5476875"/>
            <a:ext cx="8953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0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connect the trained U-Net and scheduler for generation.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Example: Rogge &amp; Rasul, Hugging Face (2022). Selected frames from their sampling animation.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47" name="Google Shape;347;p13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DDIM: fewer denoising steps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DDIM means Denoising Diffusion Implicit Model. It offers another way to generate images with your trained noise predictor.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Its sampling rule supports larger jumps between noise levels, so generation can use fewer network evaluations.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deterministic setting adds no fresh randomness during the steps. The same starting noise and settings give the same result.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implement the DDIM scheduler. Compare how changing the number of steps affects speed and image quality.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55" name="Google Shape;355;p14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DDPM and DDIM samples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2476500" y="1857375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None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Reuse the trained model with fewer sampling steps.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4229100" y="2400300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1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10 steps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8039100" y="2400300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1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100 steps</a:t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2476500" y="3095625"/>
            <a:ext cx="1619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None/>
            </a:pPr>
            <a:r>
              <a:rPr b="1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DDPM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2476500" y="4486275"/>
            <a:ext cx="1619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None/>
            </a:pPr>
            <a:r>
              <a:rPr b="1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DDIM</a:t>
            </a:r>
            <a:endParaRPr/>
          </a:p>
        </p:txBody>
      </p:sp>
      <p:pic>
        <p:nvPicPr>
          <p:cNvPr id="361" name="Google Shape;361;p14"/>
          <p:cNvPicPr preferRelativeResize="0"/>
          <p:nvPr/>
        </p:nvPicPr>
        <p:blipFill rotWithShape="1">
          <a:blip r:embed="rId3">
            <a:alphaModFix/>
          </a:blip>
          <a:srcRect b="19612" l="21489" r="32826" t="62913"/>
          <a:stretch/>
        </p:blipFill>
        <p:spPr>
          <a:xfrm>
            <a:off x="4171950" y="2876550"/>
            <a:ext cx="33147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4"/>
          <p:cNvPicPr preferRelativeResize="0"/>
          <p:nvPr/>
        </p:nvPicPr>
        <p:blipFill rotWithShape="1">
          <a:blip r:embed="rId3">
            <a:alphaModFix/>
          </a:blip>
          <a:srcRect b="72039" l="21489" r="32826" t="10485"/>
          <a:stretch/>
        </p:blipFill>
        <p:spPr>
          <a:xfrm>
            <a:off x="4171950" y="4267200"/>
            <a:ext cx="33147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4"/>
          <p:cNvPicPr preferRelativeResize="0"/>
          <p:nvPr/>
        </p:nvPicPr>
        <p:blipFill rotWithShape="1">
          <a:blip r:embed="rId4">
            <a:alphaModFix/>
          </a:blip>
          <a:srcRect b="19612" l="21489" r="32826" t="62913"/>
          <a:stretch/>
        </p:blipFill>
        <p:spPr>
          <a:xfrm>
            <a:off x="7981950" y="2876550"/>
            <a:ext cx="33147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4"/>
          <p:cNvPicPr preferRelativeResize="0"/>
          <p:nvPr/>
        </p:nvPicPr>
        <p:blipFill rotWithShape="1">
          <a:blip r:embed="rId4">
            <a:alphaModFix/>
          </a:blip>
          <a:srcRect b="72039" l="21489" r="32826" t="10485"/>
          <a:stretch/>
        </p:blipFill>
        <p:spPr>
          <a:xfrm>
            <a:off x="7981950" y="4267200"/>
            <a:ext cx="33147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/>
          <p:nvPr/>
        </p:nvSpPr>
        <p:spPr>
          <a:xfrm>
            <a:off x="2476500" y="5629275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950"/>
              <a:buFont typeface="Open Sans"/>
              <a:buNone/>
            </a:pPr>
            <a:r>
              <a:rPr b="0" lang="en-US" sz="195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implement DDIM and compare speed with image quality.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Paper examples: Song, Meng &amp; Ermon, DDIM (2021), Fig. 3 (cropped)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73" name="Google Shape;373;p15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VAE and latent space</a:t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VAE means Variational Autoencoder. It compresses an image into learned numbers, called a latent representation.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encoder creates this representation. The decoder reconstructs an image from it, sometimes losing fine details.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Latent space is the space of these compact representations. Diffusion works on them to reduce computation.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project supplies a VAE that is already trained. You implement encoding and decoding for the diffusion model.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81" name="Google Shape;381;p16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VAE: compressing images</a:t>
            </a: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2476500" y="1924050"/>
            <a:ext cx="89535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None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Compress an image into a small representation, then reconstruct it.</a:t>
            </a:r>
            <a:endParaRPr/>
          </a:p>
        </p:txBody>
      </p:sp>
      <p:pic>
        <p:nvPicPr>
          <p:cNvPr id="383" name="Google Shape;3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91" y="2771775"/>
            <a:ext cx="8953317" cy="330612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6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Figure: Jay Alammar (2022), CC BY-NC-SA 4.0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391" name="Google Shape;391;p17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Latent diffusion: your VAE task</a:t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2476500" y="1885950"/>
            <a:ext cx="8953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None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Training adds noise to encoded images. Generation denoises fresh latent noise, then decodes it.</a:t>
            </a:r>
            <a:endParaRPr/>
          </a:p>
        </p:txBody>
      </p:sp>
      <p:pic>
        <p:nvPicPr>
          <p:cNvPr id="393" name="Google Shape;393;p17"/>
          <p:cNvPicPr preferRelativeResize="0"/>
          <p:nvPr/>
        </p:nvPicPr>
        <p:blipFill rotWithShape="1">
          <a:blip r:embed="rId3">
            <a:alphaModFix/>
          </a:blip>
          <a:srcRect b="0" l="0" r="0" t="50000"/>
          <a:stretch/>
        </p:blipFill>
        <p:spPr>
          <a:xfrm>
            <a:off x="2476500" y="2828925"/>
            <a:ext cx="8953500" cy="252603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7"/>
          <p:cNvSpPr/>
          <p:nvPr/>
        </p:nvSpPr>
        <p:spPr>
          <a:xfrm>
            <a:off x="2476500" y="5543550"/>
            <a:ext cx="8953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950"/>
              <a:buFont typeface="Open Sans"/>
              <a:buNone/>
            </a:pPr>
            <a:r>
              <a:rPr b="0" lang="en-US" sz="195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encode, decode, and keep the supplied latent scaling.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Figure: Jay Alammar (2022), CC BY-NC-SA 4.0 (generation portion cropped)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02" name="Google Shape;402;p18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Class conditioning</a:t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Unconditional generation asks for any image resembling the training set. You do not choose its category.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Conditional generation also supplies a class label, such as an animal category, to tell the model what to generate.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During training, the model sees images together with their labels and learns how each category affects denoising.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For classifier-free guidance, sometimes hide the label during training. This teaches the same network to predict noise with or without it.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10" name="Google Shape;410;p19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Classifier-free guidance</a:t>
            </a: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2476500" y="1847850"/>
            <a:ext cx="89535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None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Class labels steer generation. Here, the requested class is “malamute.”</a:t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3333750" y="2647950"/>
            <a:ext cx="3143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1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Class label only</a:t>
            </a:r>
            <a:endParaRPr/>
          </a:p>
        </p:txBody>
      </p:sp>
      <p:sp>
        <p:nvSpPr>
          <p:cNvPr id="413" name="Google Shape;413;p19"/>
          <p:cNvSpPr/>
          <p:nvPr/>
        </p:nvSpPr>
        <p:spPr>
          <a:xfrm>
            <a:off x="7791450" y="2647950"/>
            <a:ext cx="3667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25"/>
              <a:buFont typeface="Open Sans"/>
              <a:buNone/>
            </a:pPr>
            <a:r>
              <a:rPr b="1" lang="en-US" sz="202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With stronger guidance</a:t>
            </a:r>
            <a:endParaRPr/>
          </a:p>
        </p:txBody>
      </p:sp>
      <p:pic>
        <p:nvPicPr>
          <p:cNvPr id="414" name="Google Shape;414;p19"/>
          <p:cNvPicPr preferRelativeResize="0"/>
          <p:nvPr/>
        </p:nvPicPr>
        <p:blipFill rotWithShape="1">
          <a:blip r:embed="rId3">
            <a:alphaModFix/>
          </a:blip>
          <a:srcRect b="42826" l="50538" r="21183" t="0"/>
          <a:stretch/>
        </p:blipFill>
        <p:spPr>
          <a:xfrm>
            <a:off x="3333750" y="3105150"/>
            <a:ext cx="25717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9"/>
          <p:cNvPicPr preferRelativeResize="0"/>
          <p:nvPr/>
        </p:nvPicPr>
        <p:blipFill rotWithShape="1">
          <a:blip r:embed="rId4">
            <a:alphaModFix/>
          </a:blip>
          <a:srcRect b="42826" l="50538" r="21183" t="0"/>
          <a:stretch/>
        </p:blipFill>
        <p:spPr>
          <a:xfrm>
            <a:off x="7791450" y="3105150"/>
            <a:ext cx="2571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9"/>
          <p:cNvSpPr/>
          <p:nvPr/>
        </p:nvSpPr>
        <p:spPr>
          <a:xfrm>
            <a:off x="2476500" y="5791200"/>
            <a:ext cx="8953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875"/>
              <a:buFont typeface="Open Sans"/>
              <a:buNone/>
            </a:pPr>
            <a:r>
              <a:rPr b="0" lang="en-US" sz="18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Stronger guidance emphasizes the class, often reducing variety.</a:t>
            </a: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2476500" y="6143625"/>
            <a:ext cx="895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975"/>
              <a:buFont typeface="Open Sans"/>
              <a:buNone/>
            </a:pPr>
            <a:r>
              <a:rPr b="0" lang="en-US" sz="975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Paper examples: Ho &amp; Salimans, Classifier-Free Diffusion Guidance (2022), Fig. 6 (cropped)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24" name="Google Shape;424;p20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How classifier-free guidance works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At each generation step, run the same network twice: once with the chosen class and once without it.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difference between the predictions shows how the class changes denoising. Emphasize this difference to steer the image.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Guidance strength controls this emphasis. Stronger guidance can make the class clearer, but reduce variety or add visual errors.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Your task: combine both predictions. You need no separate classifier, a network that predicts image categories.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32" name="Google Shape;432;p21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Evaluating your results</a:t>
            </a:r>
            <a:endParaRPr/>
          </a:p>
        </p:txBody>
      </p:sp>
      <p:sp>
        <p:nvSpPr>
          <p:cNvPr id="433" name="Google Shape;433;p21"/>
          <p:cNvSpPr/>
          <p:nvPr/>
        </p:nvSpPr>
        <p:spPr>
          <a:xfrm>
            <a:off x="2476500" y="1914525"/>
            <a:ext cx="8953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50"/>
              <a:buFont typeface="Open Sans"/>
              <a:buNone/>
            </a:pPr>
            <a:r>
              <a:rPr b="1" lang="en-US" sz="225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Fréchet Inception Distance (FID)</a:t>
            </a: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2476500" y="2409825"/>
            <a:ext cx="8953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None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An image-recognition network summarizes visual patterns in each image. FID compares these summaries across real and generated image sets. Lower is better.</a:t>
            </a: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2476500" y="3867150"/>
            <a:ext cx="8953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50"/>
              <a:buFont typeface="Open Sans"/>
              <a:buNone/>
            </a:pPr>
            <a:r>
              <a:rPr b="1" lang="en-US" sz="225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Inception Score (IS)</a:t>
            </a: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2476500" y="4362450"/>
            <a:ext cx="8953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Open Sans"/>
              <a:buNone/>
            </a:pPr>
            <a:r>
              <a:rPr b="0" lang="en-US" sz="21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An image classifier assigns categories to generated images. IS rewards confident predictions and a varied mix of predicted categories across the set. Higher is better.</a:t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2476500" y="5753100"/>
            <a:ext cx="8953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950"/>
              <a:buFont typeface="Open Sans"/>
              <a:buNone/>
            </a:pPr>
            <a:r>
              <a:rPr b="1" lang="en-US" sz="195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Inspect sample images alongside both scores.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44" name="Google Shape;444;p22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Comparing your experiments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Save a grid of generated images for each method. Look for recognizable objects, visual errors, and repeated-looking samples.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Use the same evaluation setup and number of images when comparing FID and IS. For speed, also keep the hardware consistent.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Record sampling time and the number of denoising steps. A faster method is useful only if its output quality meets your needs.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An ablation changes one component at a time. This helps explain which choice caused an improvement or a failure.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52" name="Google Shape;452;p23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Exploring improvements</a:t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Change the noise schedule to test how the model learns from different amounts of corruption.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Try a larger U-Net or a Diffusion Transformer. The latter uses attention so image or latent patches can share information.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Learn the reverse-process variance to adjust the randomness in denoising updates. Compare the result with your baseline.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Use only the provided dataset. Train diffusion weights from scratch and use the supplied VAE.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4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60" name="Google Shape;460;p24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Kaggle submission</a:t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Generate 5,000 images. With class guidance, generate 50 images for each of the 100 classes.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supplied helper uses an image-recognition network to summarize the visual features of your generated images.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It saves the feature statistics in a CSV file. Submit that CSV to the course Kaggle competition.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Kaggle compares your statistics with a hidden set of real images using FID. A lower score indicates a closer match.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68" name="Google Shape;468;p25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What you will submit</a:t>
            </a:r>
            <a:endParaRPr/>
          </a:p>
        </p:txBody>
      </p:sp>
      <p:sp>
        <p:nvSpPr>
          <p:cNvPr id="469" name="Google Shape;469;p25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Midterm report: explain your DDPM and DDIM implementations and present their results.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Presentation video and Kaggle submission: describe your approach and submit the required image statistics.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Final report and code: cover every required stage and your advanced experiments. Include FID and IS for each stage.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Show sample images and record important settings. Explain what worked, what failed, and what you learned from comparisons.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6"/>
          <p:cNvSpPr txBox="1"/>
          <p:nvPr>
            <p:ph idx="12" type="sldNum"/>
          </p:nvPr>
        </p:nvSpPr>
        <p:spPr>
          <a:xfrm>
            <a:off x="2308225" y="6320927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76" name="Google Shape;476;p26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Sharing your findings</a:t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2476500" y="2143125"/>
            <a:ext cx="8763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The course is comparing diffusion training strategies across students and semesters.</a:t>
            </a:r>
            <a:endParaRPr/>
          </a:p>
          <a:p>
            <a:pPr indent="-152400" lvl="0" marL="254000" marR="0" rtl="0"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Describe your methods and hyperparameters clearly so results can be compared.</a:t>
            </a:r>
            <a:endParaRPr/>
          </a:p>
          <a:p>
            <a:pPr indent="-152400" lvl="0" marL="254000" marR="0" rtl="0"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Report FID and IS for each experiment or ablation.</a:t>
            </a:r>
            <a:endParaRPr/>
          </a:p>
          <a:p>
            <a:pPr indent="-152400" lvl="0" marL="254000" marR="0" rtl="0"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Strong, well-documented work may contribute to a shared paper and potential co-authorship.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 txBox="1"/>
          <p:nvPr>
            <p:ph idx="12" type="sldNum"/>
          </p:nvPr>
        </p:nvSpPr>
        <p:spPr>
          <a:xfrm>
            <a:off x="2335568" y="6328495"/>
            <a:ext cx="3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8282"/>
              </a:buClr>
              <a:buSzPts val="1600"/>
              <a:buFont typeface="Open Sans"/>
              <a:buNone/>
            </a:pPr>
            <a:fld id="{00000000-1234-1234-1234-123412341234}" type="slidenum">
              <a:rPr b="0" i="0" lang="en-US" sz="1600" u="none" cap="none">
                <a:solidFill>
                  <a:srgbClr val="828282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/>
          </a:p>
        </p:txBody>
      </p:sp>
      <p:sp>
        <p:nvSpPr>
          <p:cNvPr id="484" name="Google Shape;484;p27"/>
          <p:cNvSpPr txBox="1"/>
          <p:nvPr>
            <p:ph idx="1" type="body"/>
          </p:nvPr>
        </p:nvSpPr>
        <p:spPr>
          <a:xfrm>
            <a:off x="2384108" y="780383"/>
            <a:ext cx="9177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300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Getting started</a:t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2476500" y="2028825"/>
            <a:ext cx="8858250" cy="405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2540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Download the starter code and dataset. Confirm that you can load images and view their class labels.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Complete the DDPM training and sampling path first. Save generated samples as training progresses.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Add DDIM, then latent diffusion, then class guidance. Keep a working checkpoint, which is a saved copy of the model weights.</a:t>
            </a:r>
            <a:endParaRPr/>
          </a:p>
          <a:p>
            <a:pPr indent="-152400" lvl="0" marL="254000" marR="0" rtl="0" algn="l">
              <a:lnSpc>
                <a:spcPct val="116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2175"/>
              <a:buFont typeface="Open Sans"/>
              <a:buChar char="•"/>
            </a:pPr>
            <a:r>
              <a:rPr b="0" lang="en-US" sz="2175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rPr>
              <a:t>Evaluate every stage and record its settings. A lower noise-prediction loss alone does not guarantee better generated images.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 txBox="1"/>
          <p:nvPr>
            <p:ph idx="1" type="body"/>
          </p:nvPr>
        </p:nvSpPr>
        <p:spPr>
          <a:xfrm>
            <a:off x="2004000" y="2733150"/>
            <a:ext cx="81840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